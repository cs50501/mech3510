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7" r:id="rId2"/>
    <p:sldId id="425" r:id="rId3"/>
    <p:sldId id="426" r:id="rId4"/>
    <p:sldId id="415" r:id="rId5"/>
    <p:sldId id="424" r:id="rId6"/>
    <p:sldId id="326" r:id="rId7"/>
    <p:sldId id="3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9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施朔 刘" userId="cca257c5cd970482" providerId="LiveId" clId="{28FA160F-5CFD-46BF-AD9E-9D1B3EEFC3E4}"/>
    <pc:docChg chg="undo custSel addSld delSld">
      <pc:chgData name="施朔 刘" userId="cca257c5cd970482" providerId="LiveId" clId="{28FA160F-5CFD-46BF-AD9E-9D1B3EEFC3E4}" dt="2026-02-23T13:01:03.594" v="21" actId="47"/>
      <pc:docMkLst>
        <pc:docMk/>
      </pc:docMkLst>
      <pc:sldChg chg="add del">
        <pc:chgData name="施朔 刘" userId="cca257c5cd970482" providerId="LiveId" clId="{28FA160F-5CFD-46BF-AD9E-9D1B3EEFC3E4}" dt="2026-02-23T13:01:02.568" v="19" actId="47"/>
        <pc:sldMkLst>
          <pc:docMk/>
          <pc:sldMk cId="4024412623" sldId="428"/>
        </pc:sldMkLst>
      </pc:sldChg>
      <pc:sldChg chg="add del">
        <pc:chgData name="施朔 刘" userId="cca257c5cd970482" providerId="LiveId" clId="{28FA160F-5CFD-46BF-AD9E-9D1B3EEFC3E4}" dt="2026-02-23T13:01:03.594" v="21" actId="47"/>
        <pc:sldMkLst>
          <pc:docMk/>
          <pc:sldMk cId="760357740" sldId="429"/>
        </pc:sldMkLst>
      </pc:sldChg>
      <pc:sldChg chg="add del">
        <pc:chgData name="施朔 刘" userId="cca257c5cd970482" providerId="LiveId" clId="{28FA160F-5CFD-46BF-AD9E-9D1B3EEFC3E4}" dt="2026-02-23T13:01:01.495" v="17" actId="47"/>
        <pc:sldMkLst>
          <pc:docMk/>
          <pc:sldMk cId="3762722209" sldId="430"/>
        </pc:sldMkLst>
      </pc:sldChg>
      <pc:sldChg chg="add del">
        <pc:chgData name="施朔 刘" userId="cca257c5cd970482" providerId="LiveId" clId="{28FA160F-5CFD-46BF-AD9E-9D1B3EEFC3E4}" dt="2026-02-23T13:01:00.755" v="15" actId="47"/>
        <pc:sldMkLst>
          <pc:docMk/>
          <pc:sldMk cId="3985840801" sldId="431"/>
        </pc:sldMkLst>
      </pc:sldChg>
      <pc:sldChg chg="add del">
        <pc:chgData name="施朔 刘" userId="cca257c5cd970482" providerId="LiveId" clId="{28FA160F-5CFD-46BF-AD9E-9D1B3EEFC3E4}" dt="2026-02-23T13:01:00.454" v="14" actId="47"/>
        <pc:sldMkLst>
          <pc:docMk/>
          <pc:sldMk cId="3881227753" sldId="432"/>
        </pc:sldMkLst>
      </pc:sldChg>
      <pc:sldChg chg="add del">
        <pc:chgData name="施朔 刘" userId="cca257c5cd970482" providerId="LiveId" clId="{28FA160F-5CFD-46BF-AD9E-9D1B3EEFC3E4}" dt="2026-02-23T13:01:00.131" v="13" actId="47"/>
        <pc:sldMkLst>
          <pc:docMk/>
          <pc:sldMk cId="1838129518" sldId="433"/>
        </pc:sldMkLst>
      </pc:sldChg>
      <pc:sldChg chg="add del">
        <pc:chgData name="施朔 刘" userId="cca257c5cd970482" providerId="LiveId" clId="{28FA160F-5CFD-46BF-AD9E-9D1B3EEFC3E4}" dt="2026-02-23T13:00:59.752" v="12" actId="47"/>
        <pc:sldMkLst>
          <pc:docMk/>
          <pc:sldMk cId="911316124" sldId="434"/>
        </pc:sldMkLst>
      </pc:sldChg>
      <pc:sldChg chg="add del">
        <pc:chgData name="施朔 刘" userId="cca257c5cd970482" providerId="LiveId" clId="{28FA160F-5CFD-46BF-AD9E-9D1B3EEFC3E4}" dt="2026-02-23T13:01:03.075" v="20" actId="47"/>
        <pc:sldMkLst>
          <pc:docMk/>
          <pc:sldMk cId="1268887977" sldId="435"/>
        </pc:sldMkLst>
      </pc:sldChg>
      <pc:sldChg chg="add del">
        <pc:chgData name="施朔 刘" userId="cca257c5cd970482" providerId="LiveId" clId="{28FA160F-5CFD-46BF-AD9E-9D1B3EEFC3E4}" dt="2026-02-23T13:01:01.096" v="16" actId="47"/>
        <pc:sldMkLst>
          <pc:docMk/>
          <pc:sldMk cId="3912522516" sldId="436"/>
        </pc:sldMkLst>
      </pc:sldChg>
      <pc:sldChg chg="add del">
        <pc:chgData name="施朔 刘" userId="cca257c5cd970482" providerId="LiveId" clId="{28FA160F-5CFD-46BF-AD9E-9D1B3EEFC3E4}" dt="2026-02-23T13:00:59.389" v="11" actId="47"/>
        <pc:sldMkLst>
          <pc:docMk/>
          <pc:sldMk cId="2445493232" sldId="437"/>
        </pc:sldMkLst>
      </pc:sldChg>
      <pc:sldChg chg="add del">
        <pc:chgData name="施朔 刘" userId="cca257c5cd970482" providerId="LiveId" clId="{28FA160F-5CFD-46BF-AD9E-9D1B3EEFC3E4}" dt="2026-02-23T13:01:01.965" v="18" actId="47"/>
        <pc:sldMkLst>
          <pc:docMk/>
          <pc:sldMk cId="1429916613" sldId="4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B2DD-BF01-E6B4-9C3F-8689E4260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  <a:endParaRPr lang="en-H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853E5-2136-2E44-8210-56AC7683F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AF38-3765-A122-F99E-BC1E0B30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A04CD-D97B-4FF6-AAD3-4E3A09068019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9044-E4A5-15CF-F87A-B3AB7A66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8717C-F780-65F4-1CDC-5EED6F85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6AA78-D457-E858-E7F9-A7C390DDE5CA}"/>
              </a:ext>
            </a:extLst>
          </p:cNvPr>
          <p:cNvSpPr/>
          <p:nvPr userDrawn="1"/>
        </p:nvSpPr>
        <p:spPr>
          <a:xfrm>
            <a:off x="0" y="-23209"/>
            <a:ext cx="12192000" cy="4624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MECH3510 Computer-Aided Design and Manufacturing</a:t>
            </a:r>
            <a:endParaRPr lang="en-HK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56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EC1E-01BE-9C5B-7DB0-E990E991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2771"/>
            <a:ext cx="10515600" cy="558526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CC286-395B-B751-CB0B-13369ADD6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86" y="1184822"/>
            <a:ext cx="10859814" cy="4992141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4FDC5-56A5-3FB5-393D-27019C21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4A9AE-04A4-4932-9842-629D54286419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CE065-1950-DC2D-FD10-7F0852E7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06A25-89DB-BD77-DE49-5B004A22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EF93FE-8321-4950-AEC1-536B2020096C}" type="slidenum">
              <a:rPr lang="en-HK" smtClean="0"/>
              <a:pPr/>
              <a:t>‹#›</a:t>
            </a:fld>
            <a:endParaRPr lang="en-HK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619AF-8A15-22BF-D7A3-6A50A31DCAB0}"/>
              </a:ext>
            </a:extLst>
          </p:cNvPr>
          <p:cNvSpPr/>
          <p:nvPr userDrawn="1"/>
        </p:nvSpPr>
        <p:spPr>
          <a:xfrm>
            <a:off x="0" y="-23209"/>
            <a:ext cx="12192000" cy="4624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MECH3510 Computer-Aided Design and Manufacturing</a:t>
            </a:r>
            <a:endParaRPr lang="en-HK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05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5033-DF2C-7B6E-45BA-297698DD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7BBA7-0FB5-051F-375F-EEB4F3EF0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A322A-184B-1D89-FF2B-5FC38420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EA51-2453-432A-807C-23BB309A6E6A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4BE8-C575-E8AD-79BA-849701FC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F435-E1C8-F14D-F2F8-A1343807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012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62AB-364B-8880-A2DB-7063412E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94DB-546A-D8CC-0F49-6E588364D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B596C-47B5-6955-2F23-9754F89D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0F473-10F1-33CA-0DEB-760B8B58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7EE52-1AF6-4D70-A082-EAFB2DD58EFC}" type="datetime1">
              <a:rPr lang="en-HK" smtClean="0"/>
              <a:t>23/2/2026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B486E-2E68-879D-A5D6-8EA20A2C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A1045-339C-AAC0-DD09-AF1DCF57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2626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8993-DFBC-914B-0469-17B92B25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3F6F1-5D71-8A30-3FC5-B5FB0679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404C7-87B8-8F76-806C-7AE89CF43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B4FCC-6CD5-8E17-D78A-3F940BCB8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3A7DD-49ED-840F-D09D-BCA78D601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3FDF3-2B2E-DD43-0867-4BC7DE49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C81C-BD1B-4CD1-88C2-99E75967BCDC}" type="datetime1">
              <a:rPr lang="en-HK" smtClean="0"/>
              <a:t>23/2/2026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BB502-4928-D1D7-695B-9305EF42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E8AB8-97D2-1E15-E05E-90810D18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2177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C294-2DC1-BA2C-6620-CB84A37B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FDAE7-F85D-5ED6-7A81-5DAF0F08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DC12-0206-4E2F-AC5E-70446DEB130D}" type="datetime1">
              <a:rPr lang="en-HK" smtClean="0"/>
              <a:t>23/2/2026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5A691-9198-4673-7966-1CE19B9A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4805A-F093-53DF-F9A9-6D15D616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3099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061DB-18BF-1D51-5191-4040FA93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8630-C4B2-41A0-B529-514A5FCCE6C5}" type="datetime1">
              <a:rPr lang="en-HK" smtClean="0"/>
              <a:t>23/2/2026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F2085-116D-9C46-BD57-5E0C0C9F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1427E-AF8C-98FD-0C24-9D937574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6286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D6D9-C013-5EB9-3FD8-4BB470DC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EF83-E989-3066-C99B-F845B9D9C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A52A3-32BB-305F-4E3C-59BE27D9F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A35DD-005B-8313-6149-F6335FA9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6D5C5-5CAF-4DF1-8DEA-F16757DA7BEC}" type="datetime1">
              <a:rPr lang="en-HK" smtClean="0"/>
              <a:t>23/2/2026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2B12-D5B1-5082-2454-E4998C2F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B99D5-D18F-895B-E221-8B6F3425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1502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4E3E-DE8D-1DFA-8818-578E386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69BAA-F57D-6A79-4121-ACA74DAEF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58367-BD23-38E0-A8AA-4032EC025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89919-7024-A913-1EEA-A232C38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05FB0-F683-4E09-B5C1-AFB612FBB8ED}" type="datetime1">
              <a:rPr lang="en-HK" smtClean="0"/>
              <a:t>23/2/2026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B89A3-9B74-22B9-8F18-198E1229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BFE53-5396-8420-317C-AC5BEC65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085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8868-7CD5-C358-A51D-E4099262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04109-EF75-1BDA-A3F8-2A28FB6B8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9F446-DD73-09AE-6123-BDEB626E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67C1-CABC-415D-AE7D-74A7FF89F65C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DAD9-9391-F7A3-E167-E56C656B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73EC7-2CF2-9126-6964-9DEDEF6D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8244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EA40F-F13D-F5A3-BA68-663ABA5CB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0FE86-88ED-6C1C-E095-195D2884B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7B2F1-EDF8-8BA7-389E-CCE9C264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D22F-9A1B-47A7-AB71-1CBC77C02567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3B03A-C93E-457C-8E88-71B11777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FD591-287E-ED6F-836E-4DB195CE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0473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E05F3-169B-BE88-8B53-BEA277B2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654B1-8272-2FD1-2CFC-5F13BBCD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14A68-A0FE-FAAA-D83D-B38FC3CA5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5E97C-EEB8-4F4A-8983-03AEAF257A52}" type="datetime1">
              <a:rPr lang="en-HK" smtClean="0"/>
              <a:t>23/2/2026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29A6A-2671-9334-3D24-BC9025F3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2C793-51F4-9CED-5917-D437D6656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34795-FF3D-4BE7-BB8E-D9CF4B1EB97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651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3686-0EE1-5223-CE82-962DD9E58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Lab-project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8BC75-E09B-7FD0-DE74-39CC55DD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34795-FF3D-4BE7-BB8E-D9CF4B1EB977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794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D9E0-7F57-8A62-B4D8-3756A804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1-1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2FA4B-2E69-EA7C-E5DC-8BE335EB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F93FE-8321-4950-AEC1-536B2020096C}" type="slidenum">
              <a:rPr kumimoji="0" lang="en-H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HK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1C0A5BE-E037-47B1-5A98-CCBF690F35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184822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We can compute area of a parallelogram with two vector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Are of each triangular mesh in the STL file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HK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B9BD5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5B9BD5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HK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kumimoji="0" lang="en-HK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B9BD5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endParaRPr kumimoji="0" lang="en-HK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1C0A5BE-E037-47B1-5A98-CCBF690F3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84822"/>
                <a:ext cx="7886700" cy="4351338"/>
              </a:xfrm>
              <a:prstGeom prst="rect">
                <a:avLst/>
              </a:prstGeom>
              <a:blipFill>
                <a:blip r:embed="rId2"/>
                <a:stretch>
                  <a:fillRect l="-1624" t="-224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4030407-71BD-34C6-DE46-555610BEA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529" y="2025219"/>
            <a:ext cx="2762636" cy="828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EA83CD-BF05-F843-9127-A445287DE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485" y="1796587"/>
            <a:ext cx="3362794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9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D9E0-7F57-8A62-B4D8-3756A804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1-1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2FA4B-2E69-EA7C-E5DC-8BE335EB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F93FE-8321-4950-AEC1-536B2020096C}" type="slidenum">
              <a:rPr kumimoji="0" lang="en-H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HK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520DF-40FC-8127-28D4-0EAA0155120F}"/>
              </a:ext>
            </a:extLst>
          </p:cNvPr>
          <p:cNvSpPr txBox="1"/>
          <p:nvPr/>
        </p:nvSpPr>
        <p:spPr>
          <a:xfrm>
            <a:off x="1040218" y="1824790"/>
            <a:ext cx="104946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Question: Based on the given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visSTL.py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, develop a python program which can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NewRomanPS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1) Read and visualize STL files of the given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tessa_vase_filled.stl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and </a:t>
            </a:r>
            <a:r>
              <a:rPr kumimoji="0" lang="en-HK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Twisted_Vase_Basic_Voronoi_Style.stl</a:t>
            </a:r>
            <a:r>
              <a:rPr kumimoji="0" lang="en-H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NewRomanPS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2) Rotate about x-axis for π/4 clock-wise and then about y-axis for π/3 counter-clock-wise. In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first method, create your own rotation matrices and apply them to each one of the vertices. In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second method, directly use the function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mesh.rotate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()”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numpy-stl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. Visually show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the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NewRomanPS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original and the rotated models and compare the results from the two methods. Note that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mesh.rotate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()” implementation in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stl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package uses row vectors instead of column vectors,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therefore the rotation matrix is multiplied from the right of row vectors.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NewRomanPS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3) Calculate the total surface area for each of the two models. In the first method, calculate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area for each triangular surface using cross-product as discussed in class and add all of them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together. In the second method, directly use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mesh.areas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”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numpy-stl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 and sum them up. Compare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the results from the two methods.</a:t>
            </a:r>
            <a:endParaRPr kumimoji="0" lang="en-HK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69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153B-2A5A-DA19-4A90-A3096A17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1-2</a:t>
            </a:r>
            <a:r>
              <a:rPr lang="en-HK" dirty="0"/>
              <a:t>: Program periodic surfaces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27EFB-D9B6-6C74-7703-F3B8F530F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Periodic surfaces: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1F6B8-8B30-A3B5-43E1-8CD45052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F93FE-8321-4950-AEC1-536B2020096C}" type="slidenum">
              <a:rPr kumimoji="0" lang="en-H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HK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6B281-E2B6-3346-3940-E339D68C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780" y="1385050"/>
            <a:ext cx="6201640" cy="3677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F01091-B4ED-AD33-B700-F15BFE342800}"/>
              </a:ext>
            </a:extLst>
          </p:cNvPr>
          <p:cNvSpPr txBox="1"/>
          <p:nvPr/>
        </p:nvSpPr>
        <p:spPr>
          <a:xfrm>
            <a:off x="838200" y="6302274"/>
            <a:ext cx="9994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Y., &amp; Wang, Y. (2022). Structural optimization of metamaterials based on periodic surface modeling. 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Computer Methods in Applied Mechanics and Engineering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 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395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115057.</a:t>
            </a:r>
            <a:endParaRPr kumimoji="0" lang="en-HK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55B0B9-EC47-8B43-FC8C-9253D692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0" y="1996015"/>
            <a:ext cx="4315427" cy="895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318E06-8DBF-442C-A41E-216FA2733395}"/>
                  </a:ext>
                </a:extLst>
              </p:cNvPr>
              <p:cNvSpPr txBox="1"/>
              <p:nvPr/>
            </p:nvSpPr>
            <p:spPr>
              <a:xfrm>
                <a:off x="1009574" y="3080727"/>
                <a:ext cx="37132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𝑙𝑚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periodic moment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κ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scale parameter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HK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𝒑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is a basis vector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HK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𝒓</m:t>
                    </m:r>
                  </m:oMath>
                </a14:m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 location vector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318E06-8DBF-442C-A41E-216FA273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74" y="3080727"/>
                <a:ext cx="3713268" cy="1200329"/>
              </a:xfrm>
              <a:prstGeom prst="rect">
                <a:avLst/>
              </a:prstGeom>
              <a:blipFill>
                <a:blip r:embed="rId4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E322EF-A1E2-687F-8D14-A480F0060B4F}"/>
                  </a:ext>
                </a:extLst>
              </p:cNvPr>
              <p:cNvSpPr txBox="1"/>
              <p:nvPr/>
            </p:nvSpPr>
            <p:spPr>
              <a:xfrm>
                <a:off x="1414130" y="5401340"/>
                <a:ext cx="9260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Construct a function in Python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𝑙𝑚</m:t>
                        </m:r>
                      </m:sub>
                    </m:sSub>
                  </m:oMath>
                </a14:m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κ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HK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HK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𝒑</m:t>
                        </m:r>
                      </m:e>
                      <m:sub>
                        <m:r>
                          <a:rPr kumimoji="0" lang="en-HK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as inputs and </a:t>
                </a:r>
                <a14:m>
                  <m:oMath xmlns:m="http://schemas.openxmlformats.org/officeDocument/2006/math">
                    <m:r>
                      <a:rPr kumimoji="0" lang="en-HK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𝜓</m:t>
                    </m:r>
                  </m:oMath>
                </a14:m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as output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HK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Plot P, D, and G types of surface with your function. You can choose any scale parameter.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E322EF-A1E2-687F-8D14-A480F0060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130" y="5401340"/>
                <a:ext cx="9260958" cy="646331"/>
              </a:xfrm>
              <a:prstGeom prst="rect">
                <a:avLst/>
              </a:prstGeom>
              <a:blipFill>
                <a:blip r:embed="rId5"/>
                <a:stretch>
                  <a:fillRect l="-592" t="-4717" b="-1415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39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47FB-BA0C-EE6C-3B2A-6A7F316F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1-3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3D9F-970C-CFD1-E0DF-0E72C4D98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86" y="1184822"/>
            <a:ext cx="10859814" cy="5536653"/>
          </a:xfrm>
        </p:spPr>
        <p:txBody>
          <a:bodyPr/>
          <a:lstStyle/>
          <a:p>
            <a:pPr marL="342900" indent="-342900" algn="l">
              <a:buAutoNum type="arabicParenBoth"/>
            </a:pPr>
            <a:r>
              <a:rPr lang="en-US" sz="1800" b="1" i="0" u="none" strike="noStrike" baseline="0" dirty="0">
                <a:latin typeface="TimesNewRomanPS-BoldMT"/>
              </a:rPr>
              <a:t>Visualize a sphere centered at (0,0,0) with radius of 1, report formulation and results.</a:t>
            </a:r>
            <a:r>
              <a:rPr lang="en-US" sz="1800" b="0" i="0" u="none" strike="noStrike" baseline="0" dirty="0">
                <a:latin typeface="TimesNewRomanPSMT"/>
              </a:rPr>
              <a:t> 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PSMT"/>
              </a:rPr>
              <a:t>The visualization of implicit surface </a:t>
            </a:r>
            <a:r>
              <a:rPr lang="en-US" sz="1800" b="0" i="1" u="none" strike="noStrike" baseline="0" dirty="0">
                <a:latin typeface="Times New Roman" panose="02020603050405020304" pitchFamily="18" charset="0"/>
              </a:rPr>
              <a:t>f</a:t>
            </a:r>
            <a:r>
              <a:rPr lang="en-US" sz="1800" b="0" i="0" u="none" strike="noStrike" baseline="0" dirty="0">
                <a:latin typeface="TimesNewRomanPSMT"/>
              </a:rPr>
              <a:t>(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</a:rPr>
              <a:t>x</a:t>
            </a:r>
            <a:r>
              <a:rPr lang="en-US" sz="1800" b="0" i="0" u="none" strike="noStrike" baseline="0" dirty="0" err="1">
                <a:latin typeface="TimesNewRomanPSMT"/>
              </a:rPr>
              <a:t>,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</a:rPr>
              <a:t>y</a:t>
            </a:r>
            <a:r>
              <a:rPr lang="en-US" sz="1800" b="0" i="0" u="none" strike="noStrike" baseline="0" dirty="0" err="1">
                <a:latin typeface="TimesNewRomanPSMT"/>
              </a:rPr>
              <a:t>,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</a:rPr>
              <a:t>z</a:t>
            </a:r>
            <a:r>
              <a:rPr lang="en-US" sz="1800" b="0" i="0" u="none" strike="noStrike" baseline="0" dirty="0">
                <a:latin typeface="TimesNewRomanPSMT"/>
              </a:rPr>
              <a:t>)=0 is to show the </a:t>
            </a:r>
            <a:r>
              <a:rPr lang="en-US" sz="1800" b="0" i="0" u="none" strike="noStrike" baseline="0" dirty="0" err="1">
                <a:latin typeface="TimesNewRomanPSMT"/>
              </a:rPr>
              <a:t>isosurface</a:t>
            </a:r>
            <a:r>
              <a:rPr lang="en-US" sz="1800" b="0" i="0" u="none" strike="noStrike" baseline="0" dirty="0">
                <a:latin typeface="TimesNewRomanPSMT"/>
              </a:rPr>
              <a:t> from a 3D volume of </a:t>
            </a:r>
            <a:r>
              <a:rPr lang="en-US" sz="1800" b="0" i="1" u="none" strike="noStrike" baseline="0" dirty="0">
                <a:latin typeface="Times New Roman" panose="02020603050405020304" pitchFamily="18" charset="0"/>
              </a:rPr>
              <a:t>f </a:t>
            </a:r>
            <a:r>
              <a:rPr lang="en-US" sz="1800" b="0" i="0" u="none" strike="noStrike" baseline="0" dirty="0">
                <a:latin typeface="TimesNewRomanPSMT"/>
              </a:rPr>
              <a:t>functional </a:t>
            </a:r>
            <a:r>
              <a:rPr lang="en-HK" sz="1800" b="0" i="0" u="none" strike="noStrike" baseline="0" dirty="0">
                <a:latin typeface="TimesNewRomanPSMT"/>
              </a:rPr>
              <a:t>values.</a:t>
            </a:r>
          </a:p>
          <a:p>
            <a:pPr algn="l"/>
            <a:endParaRPr lang="en-HK" sz="1800" dirty="0">
              <a:latin typeface="TimesNewRomanPSMT"/>
            </a:endParaRP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imesNewRomanPS-BoldMT"/>
              </a:rPr>
              <a:t>(2) Visualize the union of a box and a cylinder, report formulation and results.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PSMT"/>
              </a:rPr>
              <a:t>Each side of the box has the length of 1 along x-, y-, and z-direction and its center is at (0,0,0). The center axis of the cylinder is aligned with z-axis. The diameter of the cylinder is 0.2 and the height is 0.2. Make sure the union between the box and cylinder is seamless. You should use </a:t>
            </a:r>
            <a:r>
              <a:rPr lang="en-US" sz="1800" b="1" i="0" u="none" strike="noStrike" baseline="0" dirty="0">
                <a:latin typeface="TimesNewRomanPS-BoldMT"/>
              </a:rPr>
              <a:t>both </a:t>
            </a:r>
            <a:r>
              <a:rPr lang="en-US" sz="1800" b="0" i="0" u="none" strike="noStrike" baseline="0" dirty="0">
                <a:latin typeface="TimesNewRomanPSMT"/>
              </a:rPr>
              <a:t>min/max function and R-function</a:t>
            </a:r>
            <a:r>
              <a:rPr lang="en-US" sz="1800" dirty="0">
                <a:latin typeface="TimesNewRomanPSMT"/>
              </a:rPr>
              <a:t> </a:t>
            </a:r>
            <a:r>
              <a:rPr lang="en-US" sz="1800" b="0" i="0" u="none" strike="noStrike" baseline="0" dirty="0">
                <a:latin typeface="TimesNewRomanPSMT"/>
              </a:rPr>
              <a:t>for Boolean operations and compare the results.</a:t>
            </a:r>
          </a:p>
          <a:p>
            <a:pPr marL="0" indent="0" algn="l">
              <a:buNone/>
            </a:pPr>
            <a:endParaRPr lang="en-US" sz="1800" dirty="0">
              <a:latin typeface="TimesNewRomanPSMT"/>
            </a:endParaRPr>
          </a:p>
          <a:p>
            <a:pPr marL="0" indent="0" algn="l">
              <a:buNone/>
            </a:pPr>
            <a:endParaRPr lang="en-US" sz="1800" dirty="0">
              <a:latin typeface="TimesNewRomanPSMT"/>
            </a:endParaRPr>
          </a:p>
          <a:p>
            <a:pPr marL="0" indent="0" algn="l">
              <a:buNone/>
            </a:pPr>
            <a:endParaRPr lang="en-US" sz="1800" dirty="0">
              <a:latin typeface="TimesNewRomanPSMT"/>
            </a:endParaRP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TimesNewRomanPS-BoldMT"/>
              </a:rPr>
              <a:t>(3) Generate metamorphosis between the sphere in (1) and the box-cylinder in (2), report formulation and results with 11 screen-captured pictures.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PSMT"/>
              </a:rPr>
              <a:t>Create a 10-step linear metamorphosis process with 9 intermediate images between the sphere and </a:t>
            </a:r>
            <a:r>
              <a:rPr lang="en-US" sz="1800" b="0" i="0" u="none" strike="noStrike" baseline="0" dirty="0" err="1">
                <a:latin typeface="TimesNewRomanPSMT"/>
              </a:rPr>
              <a:t>boxcylinder</a:t>
            </a:r>
            <a:r>
              <a:rPr lang="en-US" sz="1800" dirty="0">
                <a:latin typeface="TimesNewRomanPSMT"/>
              </a:rPr>
              <a:t> </a:t>
            </a:r>
            <a:r>
              <a:rPr lang="en-US" sz="1800" b="0" i="0" u="none" strike="noStrike" baseline="0" dirty="0">
                <a:latin typeface="TimesNewRomanPSMT"/>
              </a:rPr>
              <a:t>models (use min/max version of box-cylinder here).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0A80-0607-9010-71F1-0132210A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F93FE-8321-4950-AEC1-536B2020096C}" type="slidenum">
              <a:rPr kumimoji="0" lang="en-H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HK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737F6E-4CC0-FB8B-6081-F0EFC2C0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93" y="3503428"/>
            <a:ext cx="1473143" cy="140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2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399E-4FD0-ACB5-0C8C-104098B5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2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530B4-7615-55AC-866F-CC6D09BB8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swivel C bracket is mounted to a ceiling of a building and has a speaker (not shown) of 20 </a:t>
            </a:r>
            <a:r>
              <a:rPr lang="en-US" dirty="0" err="1"/>
              <a:t>lbf</a:t>
            </a:r>
            <a:r>
              <a:rPr lang="en-US" dirty="0"/>
              <a:t> hanging from each mounting hole. The mounting bracket is made of A 36 steel with a modulus of elasticity of 29 x10</a:t>
            </a:r>
            <a:r>
              <a:rPr lang="en-US" sz="3200" baseline="30000" dirty="0"/>
              <a:t>6</a:t>
            </a:r>
            <a:r>
              <a:rPr lang="en-US" dirty="0"/>
              <a:t> psi, Poisson’s ratio of 0.29, and yield strength of 36,000 psi. Determine the maximum von Mises stress and deflection in the bracket.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E6849-2D0F-EDA9-1164-5DD0141D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93FE-8321-4950-AEC1-536B2020096C}" type="slidenum">
              <a:rPr lang="en-HK" smtClean="0"/>
              <a:pPr/>
              <a:t>6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16877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399E-4FD0-ACB5-0C8C-104098B5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Exercise 2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E6849-2D0F-EDA9-1164-5DD0141D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93FE-8321-4950-AEC1-536B2020096C}" type="slidenum">
              <a:rPr lang="en-HK" smtClean="0"/>
              <a:pPr/>
              <a:t>7</a:t>
            </a:fld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D54D59-D6D6-FA48-F4BB-457BDA57D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964" y="1059004"/>
            <a:ext cx="4624220" cy="53707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66364-76AD-49C6-DF0A-370FF51A5F95}"/>
              </a:ext>
            </a:extLst>
          </p:cNvPr>
          <p:cNvSpPr txBox="1"/>
          <p:nvPr/>
        </p:nvSpPr>
        <p:spPr>
          <a:xfrm>
            <a:off x="7981950" y="2604977"/>
            <a:ext cx="2194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accent1"/>
                </a:solidFill>
              </a:rPr>
              <a:t>You may create this geometry with CAD software or Python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7BDB9-2674-8576-FFC5-613301225018}"/>
              </a:ext>
            </a:extLst>
          </p:cNvPr>
          <p:cNvSpPr txBox="1"/>
          <p:nvPr/>
        </p:nvSpPr>
        <p:spPr>
          <a:xfrm>
            <a:off x="1610265" y="4677121"/>
            <a:ext cx="280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accent1"/>
                </a:solidFill>
              </a:rPr>
              <a:t>Dimensions in inches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884250-9688-877A-06BF-6BF78994BCCA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772728" y="6452761"/>
            <a:ext cx="77724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1800" dirty="0"/>
              <a:t>Parasolid format is recommended: File-&gt;Import-&gt;PARA…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537166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653</Words>
  <Application>Microsoft Office PowerPoint</Application>
  <PresentationFormat>宽屏</PresentationFormat>
  <Paragraphs>55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TimesNewRomanPS-BoldMT</vt:lpstr>
      <vt:lpstr>TimesNewRomanPSMT</vt:lpstr>
      <vt:lpstr>Arial</vt:lpstr>
      <vt:lpstr>Calibri</vt:lpstr>
      <vt:lpstr>Calibri Light</vt:lpstr>
      <vt:lpstr>Cambria Math</vt:lpstr>
      <vt:lpstr>Times New Roman</vt:lpstr>
      <vt:lpstr>Wingdings</vt:lpstr>
      <vt:lpstr>1_Office Theme</vt:lpstr>
      <vt:lpstr>Lab-project</vt:lpstr>
      <vt:lpstr>Exercise 1-1</vt:lpstr>
      <vt:lpstr>Exercise 1-1</vt:lpstr>
      <vt:lpstr>Exercise 1-2: Program periodic surfaces</vt:lpstr>
      <vt:lpstr>Exercise 1-3</vt:lpstr>
      <vt:lpstr>Exercise 2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Lab-project</dc:title>
  <dc:creator>LU Yanglong</dc:creator>
  <cp:lastModifiedBy>施朔 刘</cp:lastModifiedBy>
  <cp:revision>2</cp:revision>
  <dcterms:created xsi:type="dcterms:W3CDTF">2024-01-30T11:02:41Z</dcterms:created>
  <dcterms:modified xsi:type="dcterms:W3CDTF">2026-02-23T13:03:45Z</dcterms:modified>
</cp:coreProperties>
</file>